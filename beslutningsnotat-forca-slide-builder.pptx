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orca_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0"/>
            <a:ext cx="2331720" cy="17503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023"/>
                </a:solidFill>
                <a:latin typeface="Arial"/>
              </a:rPr>
              <a:t>Forca Slide Builder</a:t>
            </a:r>
            <a:r>
              <a:rPr sz="3000" b="0" i="0">
                <a:solidFill>
                  <a:srgbClr val="707070"/>
                </a:solidFill>
                <a:latin typeface="Arial"/>
              </a:rPr>
              <a:t>  |  Beslutningsnotat</a:t>
            </a:r>
            <a:r>
              <a:rPr sz="1600" b="0" i="0">
                <a:solidFill>
                  <a:srgbClr val="707070"/>
                </a:solidFill>
                <a:latin typeface="Arial"/>
              </a:rPr>
              <a:t> 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515600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250" b="0" i="1">
                <a:solidFill>
                  <a:srgbClr val="707070"/>
                </a:solidFill>
                <a:latin typeface="Arial"/>
              </a:rPr>
              <a:t>Chat-agent til generering af PowerPoint-slides i Forcas templates, bygget på Orxhestra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606040" cy="1805939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64008" cy="1805939"/>
          </a:xfrm>
          <a:prstGeom prst="rect">
            <a:avLst/>
          </a:prstGeom>
          <a:solidFill>
            <a:srgbClr val="00A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280160"/>
            <a:ext cx="2386584" cy="1805939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500" b="1" i="0">
                <a:solidFill>
                  <a:srgbClr val="00A399"/>
                </a:solidFill>
                <a:latin typeface="Arial"/>
              </a:rPr>
              <a:t>1</a:t>
            </a:r>
          </a:p>
          <a:p>
            <a:pPr algn="ctr"/>
            <a:r>
              <a:rPr sz="1250" b="1" i="0">
                <a:solidFill>
                  <a:srgbClr val="1F2023"/>
                </a:solidFill>
                <a:latin typeface="Arial"/>
              </a:rPr>
              <a:t>Projekt &amp;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1380743"/>
            <a:ext cx="8378647" cy="16870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Løsning: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Chat-agent bygget på Orxhestra-frameworket; brugeren beskriver indhold, agenten layouter og eksporterer .pptx i Forcas designtemplates.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PoC-team: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Bygget af Jeppe (solo) under sprinten.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Backend/Python-udvikler: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~0,2 årsværk over 3 mdr — oprydning, tests, videreudvikling af agent-kode og Orxhestra-integration.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IT-infrastruktur/DevOps: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~1 uge til opsætning af deployment + løbende drift i Forcas Azure-miljø.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Data-/sikkerhedsansvarlig: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~1 uge til DPIA og sikkerhedsreview.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86100"/>
            <a:ext cx="11185855" cy="10972"/>
          </a:xfrm>
          <a:prstGeom prst="rect">
            <a:avLst/>
          </a:prstGeom>
          <a:solidFill>
            <a:srgbClr val="DA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86100"/>
            <a:ext cx="2606040" cy="1581912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86100"/>
            <a:ext cx="64008" cy="1581912"/>
          </a:xfrm>
          <a:prstGeom prst="rect">
            <a:avLst/>
          </a:prstGeom>
          <a:solidFill>
            <a:srgbClr val="00A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3086100"/>
            <a:ext cx="2386584" cy="158191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500" b="1" i="0">
                <a:solidFill>
                  <a:srgbClr val="00A399"/>
                </a:solidFill>
                <a:latin typeface="Arial"/>
              </a:rPr>
              <a:t>2</a:t>
            </a:r>
          </a:p>
          <a:p>
            <a:pPr algn="ctr"/>
            <a:r>
              <a:rPr sz="1250" b="1" i="0">
                <a:solidFill>
                  <a:srgbClr val="1F2023"/>
                </a:solidFill>
                <a:latin typeface="Arial"/>
              </a:rPr>
              <a:t>Data &amp; risikobillede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3186684"/>
            <a:ext cx="8378647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Data: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Forretningsindhold (slide-tekst, projekter, tal) + Forca-templates og designassets. Ingen følsomme persondata identificeret.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Behandling: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Ekstern LLM hos OpenAI/Anthropic i USA — kun inferens, ikke træning.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Risikoflag: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Middel — forretningsindhold sendes til tredjelands-LLM uden EU-residency.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Næste skridt: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Compliance/legal ikke involveret endnu; startes som separat spor med DPIA og EU AI Act-vurdering.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8012"/>
            <a:ext cx="11185855" cy="10972"/>
          </a:xfrm>
          <a:prstGeom prst="rect">
            <a:avLst/>
          </a:prstGeom>
          <a:solidFill>
            <a:srgbClr val="DA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68012"/>
            <a:ext cx="2606040" cy="1133856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668012"/>
            <a:ext cx="64008" cy="1133856"/>
          </a:xfrm>
          <a:prstGeom prst="rect">
            <a:avLst/>
          </a:prstGeom>
          <a:solidFill>
            <a:srgbClr val="00A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4668012"/>
            <a:ext cx="2386584" cy="113385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500" b="1" i="0">
                <a:solidFill>
                  <a:srgbClr val="00A399"/>
                </a:solidFill>
                <a:latin typeface="Arial"/>
              </a:rPr>
              <a:t>3</a:t>
            </a:r>
          </a:p>
          <a:p>
            <a:pPr algn="ctr"/>
            <a:r>
              <a:rPr sz="1250" b="1" i="0">
                <a:solidFill>
                  <a:srgbClr val="1F2023"/>
                </a:solidFill>
                <a:latin typeface="Arial"/>
              </a:rPr>
              <a:t>Driftsdokumentation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4768596"/>
            <a:ext cx="8378647" cy="10149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DriftsRACI: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Backend-team ejer alt — overvågning, fejlhåndtering, brugersupport, patching og eskalering.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Systemer: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Orxhestra (ekstern, open source Python-framework), OpenAI/Anthropic LLM (ekstern, US), python-pptx (intern), Forca-templates (intern).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Hosting: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Forcas eget Azure-miljø; ingen særlige licenser ud over LLM-API-nøgler.</a:t>
            </a:r>
          </a:p>
        </p:txBody>
      </p:sp>
      <p:pic>
        <p:nvPicPr>
          <p:cNvPr id="20" name="Picture 19" descr="forc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6437376"/>
            <a:ext cx="960120" cy="2720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orca_chev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0"/>
            <a:ext cx="2331720" cy="17503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576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023"/>
                </a:solidFill>
                <a:latin typeface="Arial"/>
              </a:rPr>
              <a:t>Forca Slide Builder</a:t>
            </a:r>
            <a:r>
              <a:rPr sz="3000" b="0" i="0">
                <a:solidFill>
                  <a:srgbClr val="707070"/>
                </a:solidFill>
                <a:latin typeface="Arial"/>
              </a:rPr>
              <a:t>  |  Beslutningsnotat</a:t>
            </a:r>
            <a:r>
              <a:rPr sz="1600" b="0" i="0">
                <a:solidFill>
                  <a:srgbClr val="707070"/>
                </a:solidFill>
                <a:latin typeface="Arial"/>
              </a:rPr>
              <a:t> 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515600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250" b="0" i="1">
                <a:solidFill>
                  <a:srgbClr val="707070"/>
                </a:solidFill>
                <a:latin typeface="Arial"/>
              </a:rPr>
              <a:t>Chat-agent til generering af PowerPoint-slides i Forcas templates, bygget på Orxhestra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606040" cy="1581912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64008" cy="1581912"/>
          </a:xfrm>
          <a:prstGeom prst="rect">
            <a:avLst/>
          </a:prstGeom>
          <a:solidFill>
            <a:srgbClr val="00A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280160"/>
            <a:ext cx="2386584" cy="158191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500" b="1" i="0">
                <a:solidFill>
                  <a:srgbClr val="00A399"/>
                </a:solidFill>
                <a:latin typeface="Arial"/>
              </a:rPr>
              <a:t>4</a:t>
            </a:r>
          </a:p>
          <a:p>
            <a:pPr algn="ctr"/>
            <a:r>
              <a:rPr sz="1250" b="1" i="0">
                <a:solidFill>
                  <a:srgbClr val="1F2023"/>
                </a:solidFill>
                <a:latin typeface="Arial"/>
              </a:rPr>
              <a:t>Audit af løsningen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1380743"/>
            <a:ext cx="8378647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Kadence: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Kvartalsvis audit, ejet af backend-team.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Succeskriterier: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Output-kvalitet — målt via brugerfeedback og hvor meget brugeren skal redigere de genererede slides.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AI-modeller: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Nye LLM-versioner evalueres kvartalsvis; Orxhestra-versioner opdateres efter behov ved minor releases.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Handlingsspor: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Findes der drift eller fejl, prioriteres rettelser i backend-teamets sprint-backlog.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62072"/>
            <a:ext cx="11185855" cy="10972"/>
          </a:xfrm>
          <a:prstGeom prst="rect">
            <a:avLst/>
          </a:prstGeom>
          <a:solidFill>
            <a:srgbClr val="DA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62072"/>
            <a:ext cx="2606040" cy="1357884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62072"/>
            <a:ext cx="64008" cy="1357884"/>
          </a:xfrm>
          <a:prstGeom prst="rect">
            <a:avLst/>
          </a:prstGeom>
          <a:solidFill>
            <a:srgbClr val="00A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862072"/>
            <a:ext cx="2386584" cy="135788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500" b="1" i="0">
                <a:solidFill>
                  <a:srgbClr val="00A399"/>
                </a:solidFill>
                <a:latin typeface="Arial"/>
              </a:rPr>
              <a:t>5</a:t>
            </a:r>
          </a:p>
          <a:p>
            <a:pPr algn="ctr"/>
            <a:r>
              <a:rPr sz="1250" b="1" i="0">
                <a:solidFill>
                  <a:srgbClr val="1F2023"/>
                </a:solidFill>
                <a:latin typeface="Arial"/>
              </a:rPr>
              <a:t>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962656"/>
            <a:ext cx="8378647" cy="12390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Kommunikation: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Stille rollout til pilotgruppe (5-10 power users) først; bred lancering når feedback er indarbejdet.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Ledelse: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Direktør Victor sponsorerer; afdelingschefer driver brugen i deres teams.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Træning: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Hånds-on workshop pr. afdeling + opfølgningssession efter 1 måned for at fange friktion.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UX: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Web-chat findes, men er rå — kræver loading-states, fejlhåndtering og slide-preview før bred udrulning.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19956"/>
            <a:ext cx="11185855" cy="10972"/>
          </a:xfrm>
          <a:prstGeom prst="rect">
            <a:avLst/>
          </a:prstGeom>
          <a:solidFill>
            <a:srgbClr val="DA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219956"/>
            <a:ext cx="2606040" cy="1357884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19956"/>
            <a:ext cx="64008" cy="1357884"/>
          </a:xfrm>
          <a:prstGeom prst="rect">
            <a:avLst/>
          </a:prstGeom>
          <a:solidFill>
            <a:srgbClr val="00A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4219956"/>
            <a:ext cx="2386584" cy="135788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500" b="1" i="0">
                <a:solidFill>
                  <a:srgbClr val="00A399"/>
                </a:solidFill>
                <a:latin typeface="Arial"/>
              </a:rPr>
              <a:t>6</a:t>
            </a:r>
          </a:p>
          <a:p>
            <a:pPr algn="ctr"/>
            <a:r>
              <a:rPr sz="1250" b="1" i="0">
                <a:solidFill>
                  <a:srgbClr val="1F2023"/>
                </a:solidFill>
                <a:latin typeface="Arial"/>
              </a:rPr>
              <a:t>Drift økonomi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4320540"/>
            <a:ext cx="8378647" cy="12390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Driftsbudget: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150-300k DKK/år — Azure-hosting, LLM-tokenforbrug og 0,1-0,2 årsværk vedligehold.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Budgetansvar: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IT/Backend ejer driftsbudgettet og følger token-forbrug månedligt.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Transitionsomkostninger: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Engangsomkostninger til oprydning, sikkerhedsreview, deployment og UX-løft estimeres ved drift-overgang.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A399"/>
                </a:solidFill>
                <a:latin typeface="Arial"/>
              </a:rPr>
              <a:t>–  </a:t>
            </a:r>
            <a:r>
              <a:rPr sz="1100" b="1" i="0">
                <a:solidFill>
                  <a:srgbClr val="1F2023"/>
                </a:solidFill>
                <a:latin typeface="Arial"/>
              </a:rPr>
              <a:t>Største risiko:</a:t>
            </a:r>
            <a:r>
              <a:rPr sz="1100" b="0" i="0">
                <a:solidFill>
                  <a:srgbClr val="1F2023"/>
                </a:solidFill>
                <a:latin typeface="Arial"/>
              </a:rPr>
              <a:t> Prisstigninger fra LLM-udbyder (OpenAI/Anthropic) kan påvirke driftsøkonomien direkte.</a:t>
            </a:r>
          </a:p>
        </p:txBody>
      </p:sp>
      <p:pic>
        <p:nvPicPr>
          <p:cNvPr id="20" name="Picture 19" descr="forc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6437376"/>
            <a:ext cx="960120" cy="2720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